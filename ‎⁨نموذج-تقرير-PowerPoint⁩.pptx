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الحالة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BB0"/>
              </a:solidFill>
              <a:effectLst/>
            </c:spPr>
          </c:dPt>
          <c:dPt>
            <c:idx val="1"/>
            <c:bubble3D val="0"/>
            <c:spPr>
              <a:solidFill>
                <a:srgbClr val="1C7A4B"/>
              </a:solidFill>
              <a:effectLst/>
            </c:spPr>
          </c:dPt>
          <c:dPt>
            <c:idx val="2"/>
            <c:bubble3D val="0"/>
            <c:spPr>
              <a:solidFill>
                <a:srgbClr val="D4A537"/>
              </a:solidFill>
              <a:effectLst/>
            </c:spPr>
          </c:dPt>
          <c:dPt>
            <c:idx val="3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bubble3D val="0"/>
            <c:spPr>
              <a:solidFill>
                <a:srgbClr val="E07B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بانتظار المراجعة والاعتماد</c:v>
                </c:pt>
                <c:pt idx="1">
                  <c:v>القرارات الصادرة</c:v>
                </c:pt>
                <c:pt idx="2">
                  <c:v>قيد التدقيق لدى الهيئة</c:v>
                </c:pt>
                <c:pt idx="3">
                  <c:v>المسترجعة حالياً</c:v>
                </c:pt>
                <c:pt idx="4">
                  <c:v>غير مكتملة الأركان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475</c:v>
                </c:pt>
                <c:pt idx="1">
                  <c:v>1463</c:v>
                </c:pt>
                <c:pt idx="2">
                  <c:v>1962</c:v>
                </c:pt>
                <c:pt idx="3">
                  <c:v>414</c:v>
                </c:pt>
                <c:pt idx="4">
                  <c:v>3666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بانتظار المراجعة والاعتماد</c:v>
                </c:pt>
              </c:strCache>
            </c:strRef>
          </c:tx>
          <c:spPr>
            <a:solidFill>
              <a:srgbClr val="1F5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الأوسط</c:v>
                  </c:pt>
                  <c:pt idx="1">
                    <c:v>الغربي</c:v>
                  </c:pt>
                  <c:pt idx="2">
                    <c:v>الشرقي</c:v>
                  </c:pt>
                  <c:pt idx="3">
                    <c:v>الشمالي</c:v>
                  </c:pt>
                  <c:pt idx="4">
                    <c:v>الشمالي الغربي</c:v>
                  </c:pt>
                  <c:pt idx="5">
                    <c:v>الجنوبي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98</c:v>
                </c:pt>
                <c:pt idx="2">
                  <c:v>20</c:v>
                </c:pt>
                <c:pt idx="3">
                  <c:v>57</c:v>
                </c:pt>
                <c:pt idx="4">
                  <c:v>95</c:v>
                </c:pt>
                <c:pt idx="5">
                  <c:v>127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القرارات الصادرة</c:v>
                </c:pt>
              </c:strCache>
            </c:strRef>
          </c:tx>
          <c:spPr>
            <a:solidFill>
              <a:srgbClr val="1C7A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الأوسط</c:v>
                  </c:pt>
                  <c:pt idx="1">
                    <c:v>الغربي</c:v>
                  </c:pt>
                  <c:pt idx="2">
                    <c:v>الشرقي</c:v>
                  </c:pt>
                  <c:pt idx="3">
                    <c:v>الشمالي</c:v>
                  </c:pt>
                  <c:pt idx="4">
                    <c:v>الشمالي الغربي</c:v>
                  </c:pt>
                  <c:pt idx="5">
                    <c:v>الجنوبي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48</c:v>
                </c:pt>
                <c:pt idx="2">
                  <c:v>707</c:v>
                </c:pt>
                <c:pt idx="3">
                  <c:v>295</c:v>
                </c:pt>
                <c:pt idx="4">
                  <c:v>214</c:v>
                </c:pt>
                <c:pt idx="5">
                  <c:v>104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قيد التدقيق لدى الهيئة</c:v>
                </c:pt>
              </c:strCache>
            </c:strRef>
          </c:tx>
          <c:spPr>
            <a:solidFill>
              <a:srgbClr val="D4A5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الأوسط</c:v>
                  </c:pt>
                  <c:pt idx="1">
                    <c:v>الغربي</c:v>
                  </c:pt>
                  <c:pt idx="2">
                    <c:v>الشرقي</c:v>
                  </c:pt>
                  <c:pt idx="3">
                    <c:v>الشمالي</c:v>
                  </c:pt>
                  <c:pt idx="4">
                    <c:v>الشمالي الغربي</c:v>
                  </c:pt>
                  <c:pt idx="5">
                    <c:v>الجنوبي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276</c:v>
                </c:pt>
                <c:pt idx="1">
                  <c:v>161</c:v>
                </c:pt>
                <c:pt idx="2">
                  <c:v>557</c:v>
                </c:pt>
                <c:pt idx="3">
                  <c:v>447</c:v>
                </c:pt>
                <c:pt idx="4">
                  <c:v>280</c:v>
                </c:pt>
                <c:pt idx="5">
                  <c:v>241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المسترجعة حالياً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الأوسط</c:v>
                  </c:pt>
                  <c:pt idx="1">
                    <c:v>الغربي</c:v>
                  </c:pt>
                  <c:pt idx="2">
                    <c:v>الشرقي</c:v>
                  </c:pt>
                  <c:pt idx="3">
                    <c:v>الشمالي</c:v>
                  </c:pt>
                  <c:pt idx="4">
                    <c:v>الشمالي الغربي</c:v>
                  </c:pt>
                  <c:pt idx="5">
                    <c:v>الجنوبي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64</c:v>
                </c:pt>
                <c:pt idx="1">
                  <c:v>45</c:v>
                </c:pt>
                <c:pt idx="2">
                  <c:v>126</c:v>
                </c:pt>
                <c:pt idx="3">
                  <c:v>75</c:v>
                </c:pt>
                <c:pt idx="4">
                  <c:v>51</c:v>
                </c:pt>
                <c:pt idx="5">
                  <c:v>53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غير مكتملة الأركان</c:v>
                </c:pt>
              </c:strCache>
            </c:strRef>
          </c:tx>
          <c:spPr>
            <a:solidFill>
              <a:srgbClr val="E07B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الأوسط</c:v>
                  </c:pt>
                  <c:pt idx="1">
                    <c:v>الغربي</c:v>
                  </c:pt>
                  <c:pt idx="2">
                    <c:v>الشرقي</c:v>
                  </c:pt>
                  <c:pt idx="3">
                    <c:v>الشمالي</c:v>
                  </c:pt>
                  <c:pt idx="4">
                    <c:v>الشمالي الغربي</c:v>
                  </c:pt>
                  <c:pt idx="5">
                    <c:v>الجنوبي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1059</c:v>
                </c:pt>
                <c:pt idx="1">
                  <c:v>730</c:v>
                </c:pt>
                <c:pt idx="2">
                  <c:v>621</c:v>
                </c:pt>
                <c:pt idx="3">
                  <c:v>801</c:v>
                </c:pt>
                <c:pt idx="4">
                  <c:v>257</c:v>
                </c:pt>
                <c:pt idx="5">
                  <c:v>198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المرصود</c:v>
                </c:pt>
              </c:strCache>
            </c:strRef>
          </c:tx>
          <c:spPr>
            <a:solidFill>
              <a:srgbClr val="1F5BB0"/>
            </a:solidFill>
            <a:ln w="31750" cap="flat">
              <a:solidFill>
                <a:srgbClr val="1F5B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5BB0"/>
              </a:solidFill>
              <a:ln w="9525" cap="flat">
                <a:solidFill>
                  <a:srgbClr val="1F5B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أبر 25</c:v>
                  </c:pt>
                  <c:pt idx="1">
                    <c:v>ماي 25</c:v>
                  </c:pt>
                  <c:pt idx="2">
                    <c:v>يون 25</c:v>
                  </c:pt>
                  <c:pt idx="3">
                    <c:v>يول 25</c:v>
                  </c:pt>
                  <c:pt idx="4">
                    <c:v>أغس 25</c:v>
                  </c:pt>
                  <c:pt idx="5">
                    <c:v>سبت 25</c:v>
                  </c:pt>
                  <c:pt idx="6">
                    <c:v>أكت 25</c:v>
                  </c:pt>
                  <c:pt idx="7">
                    <c:v>نوف 25</c:v>
                  </c:pt>
                  <c:pt idx="8">
                    <c:v>ديس 25</c:v>
                  </c:pt>
                  <c:pt idx="9">
                    <c:v>ينا 26</c:v>
                  </c:pt>
                  <c:pt idx="10">
                    <c:v>فبر 26</c:v>
                  </c:pt>
                  <c:pt idx="11">
                    <c:v>مار 26</c:v>
                  </c:pt>
                  <c:pt idx="12">
                    <c:v>أبر 26</c:v>
                  </c:pt>
                  <c:pt idx="13">
                    <c:v>ماي 26</c:v>
                  </c:pt>
                  <c:pt idx="14">
                    <c:v>يون 26</c:v>
                  </c:pt>
                  <c:pt idx="15">
                    <c:v>يول 26</c:v>
                  </c:pt>
                  <c:pt idx="16">
                    <c:v>أغس 26</c:v>
                  </c:pt>
                  <c:pt idx="17">
                    <c:v>سبت 26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134</c:v>
                </c:pt>
                <c:pt idx="1">
                  <c:v>460</c:v>
                </c:pt>
                <c:pt idx="2">
                  <c:v>214</c:v>
                </c:pt>
                <c:pt idx="3">
                  <c:v>363</c:v>
                </c:pt>
                <c:pt idx="4">
                  <c:v>307</c:v>
                </c:pt>
                <c:pt idx="5">
                  <c:v>371</c:v>
                </c:pt>
                <c:pt idx="6">
                  <c:v>337</c:v>
                </c:pt>
                <c:pt idx="7">
                  <c:v>411</c:v>
                </c:pt>
                <c:pt idx="8">
                  <c:v>335</c:v>
                </c:pt>
                <c:pt idx="9">
                  <c:v>407</c:v>
                </c:pt>
                <c:pt idx="10">
                  <c:v>574</c:v>
                </c:pt>
                <c:pt idx="11">
                  <c:v>425</c:v>
                </c:pt>
                <c:pt idx="12">
                  <c:v>614</c:v>
                </c:pt>
                <c:pt idx="13">
                  <c:v>455</c:v>
                </c:pt>
                <c:pt idx="14">
                  <c:v>523</c:v>
                </c:pt>
                <c:pt idx="15">
                  <c:v>545</c:v>
                </c:pt>
                <c:pt idx="16">
                  <c:v>720</c:v>
                </c:pt>
                <c:pt idx="17">
                  <c:v>588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المرسل للهيئة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أبر 25</c:v>
                  </c:pt>
                  <c:pt idx="1">
                    <c:v>ماي 25</c:v>
                  </c:pt>
                  <c:pt idx="2">
                    <c:v>يون 25</c:v>
                  </c:pt>
                  <c:pt idx="3">
                    <c:v>يول 25</c:v>
                  </c:pt>
                  <c:pt idx="4">
                    <c:v>أغس 25</c:v>
                  </c:pt>
                  <c:pt idx="5">
                    <c:v>سبت 25</c:v>
                  </c:pt>
                  <c:pt idx="6">
                    <c:v>أكت 25</c:v>
                  </c:pt>
                  <c:pt idx="7">
                    <c:v>نوف 25</c:v>
                  </c:pt>
                  <c:pt idx="8">
                    <c:v>ديس 25</c:v>
                  </c:pt>
                  <c:pt idx="9">
                    <c:v>ينا 26</c:v>
                  </c:pt>
                  <c:pt idx="10">
                    <c:v>فبر 26</c:v>
                  </c:pt>
                  <c:pt idx="11">
                    <c:v>مار 26</c:v>
                  </c:pt>
                  <c:pt idx="12">
                    <c:v>أبر 26</c:v>
                  </c:pt>
                  <c:pt idx="13">
                    <c:v>ماي 26</c:v>
                  </c:pt>
                  <c:pt idx="14">
                    <c:v>يون 26</c:v>
                  </c:pt>
                  <c:pt idx="15">
                    <c:v>يول 26</c:v>
                  </c:pt>
                  <c:pt idx="16">
                    <c:v>أغس 26</c:v>
                  </c:pt>
                  <c:pt idx="17">
                    <c:v>سبت 26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51</c:v>
                </c:pt>
                <c:pt idx="1">
                  <c:v>221</c:v>
                </c:pt>
                <c:pt idx="2">
                  <c:v>88</c:v>
                </c:pt>
                <c:pt idx="3">
                  <c:v>173</c:v>
                </c:pt>
                <c:pt idx="4">
                  <c:v>154</c:v>
                </c:pt>
                <c:pt idx="5">
                  <c:v>212</c:v>
                </c:pt>
                <c:pt idx="6">
                  <c:v>195</c:v>
                </c:pt>
                <c:pt idx="7">
                  <c:v>220</c:v>
                </c:pt>
                <c:pt idx="8">
                  <c:v>137</c:v>
                </c:pt>
                <c:pt idx="9">
                  <c:v>226</c:v>
                </c:pt>
                <c:pt idx="10">
                  <c:v>323</c:v>
                </c:pt>
                <c:pt idx="11">
                  <c:v>198</c:v>
                </c:pt>
                <c:pt idx="12">
                  <c:v>240</c:v>
                </c:pt>
                <c:pt idx="13">
                  <c:v>241</c:v>
                </c:pt>
                <c:pt idx="14">
                  <c:v>268</c:v>
                </c:pt>
                <c:pt idx="15">
                  <c:v>242</c:v>
                </c:pt>
                <c:pt idx="16">
                  <c:v>334</c:v>
                </c:pt>
                <c:pt idx="17">
                  <c:v>234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القرارات الصادرة</c:v>
                </c:pt>
              </c:strCache>
            </c:strRef>
          </c:tx>
          <c:spPr>
            <a:solidFill>
              <a:srgbClr val="1C7A4B"/>
            </a:solidFill>
            <a:ln w="31750" cap="flat">
              <a:solidFill>
                <a:srgbClr val="1C7A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A4B"/>
              </a:solidFill>
              <a:ln w="9525" cap="flat">
                <a:solidFill>
                  <a:srgbClr val="1C7A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أبر 25</c:v>
                  </c:pt>
                  <c:pt idx="1">
                    <c:v>ماي 25</c:v>
                  </c:pt>
                  <c:pt idx="2">
                    <c:v>يون 25</c:v>
                  </c:pt>
                  <c:pt idx="3">
                    <c:v>يول 25</c:v>
                  </c:pt>
                  <c:pt idx="4">
                    <c:v>أغس 25</c:v>
                  </c:pt>
                  <c:pt idx="5">
                    <c:v>سبت 25</c:v>
                  </c:pt>
                  <c:pt idx="6">
                    <c:v>أكت 25</c:v>
                  </c:pt>
                  <c:pt idx="7">
                    <c:v>نوف 25</c:v>
                  </c:pt>
                  <c:pt idx="8">
                    <c:v>ديس 25</c:v>
                  </c:pt>
                  <c:pt idx="9">
                    <c:v>ينا 26</c:v>
                  </c:pt>
                  <c:pt idx="10">
                    <c:v>فبر 26</c:v>
                  </c:pt>
                  <c:pt idx="11">
                    <c:v>مار 26</c:v>
                  </c:pt>
                  <c:pt idx="12">
                    <c:v>أبر 26</c:v>
                  </c:pt>
                  <c:pt idx="13">
                    <c:v>ماي 26</c:v>
                  </c:pt>
                  <c:pt idx="14">
                    <c:v>يون 26</c:v>
                  </c:pt>
                  <c:pt idx="15">
                    <c:v>يول 26</c:v>
                  </c:pt>
                  <c:pt idx="16">
                    <c:v>أغس 26</c:v>
                  </c:pt>
                  <c:pt idx="17">
                    <c:v>سبت 26</c:v>
                  </c:pt>
                </c:lvl>
              </c:multiLvlStrCache>
            </c:multiLvl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9</c:v>
                </c:pt>
                <c:pt idx="1">
                  <c:v>31</c:v>
                </c:pt>
                <c:pt idx="2">
                  <c:v>30</c:v>
                </c:pt>
                <c:pt idx="3">
                  <c:v>56</c:v>
                </c:pt>
                <c:pt idx="4">
                  <c:v>64</c:v>
                </c:pt>
                <c:pt idx="5">
                  <c:v>80</c:v>
                </c:pt>
                <c:pt idx="6">
                  <c:v>59</c:v>
                </c:pt>
                <c:pt idx="7">
                  <c:v>102</c:v>
                </c:pt>
                <c:pt idx="8">
                  <c:v>72</c:v>
                </c:pt>
                <c:pt idx="9">
                  <c:v>129</c:v>
                </c:pt>
                <c:pt idx="10">
                  <c:v>253</c:v>
                </c:pt>
                <c:pt idx="11">
                  <c:v>144</c:v>
                </c:pt>
                <c:pt idx="12">
                  <c:v>116</c:v>
                </c:pt>
                <c:pt idx="13">
                  <c:v>102</c:v>
                </c:pt>
                <c:pt idx="14">
                  <c:v>98</c:v>
                </c:pt>
                <c:pt idx="15">
                  <c:v>79</c:v>
                </c:pt>
                <c:pt idx="16">
                  <c:v>39</c:v>
                </c:pt>
                <c:pt idx="17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المخالفات</c:v>
                </c:pt>
              </c:strCache>
            </c:strRef>
          </c:tx>
          <c:spPr>
            <a:solidFill>
              <a:srgbClr val="1F5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عدم صيانة ومتابعة عمل مصائد الدهون أو الزيوت من قبل المنشآ…</c:v>
                  </c:pt>
                  <c:pt idx="1">
                    <c:v>التوصيل بشبكة المياه بطريقة غير نظامية</c:v>
                  </c:pt>
                  <c:pt idx="2">
                    <c:v>فتح العداد بشكل غير نظامي بعد قفله من قبل مقدم الخدمة.</c:v>
                  </c:pt>
                  <c:pt idx="3">
                    <c:v>عدم توفير أو تركيب مصائد الدهون أو الزيوت من قبل المنشآت ا…</c:v>
                  </c:pt>
                  <c:pt idx="4">
                    <c:v>التلاعب بالجهاز الداخلي أو الخارجي للعداد.</c:v>
                  </c:pt>
                  <c:pt idx="5">
                    <c:v>عدم الربط بشبكة الصرف الصحي بعد توفرها.</c:v>
                  </c:pt>
                  <c:pt idx="6">
                    <c:v>إخفاء العداد.</c:v>
                  </c:pt>
                  <c:pt idx="7">
                    <c:v>كسر العداد أو زجاجته.</c:v>
                  </c:pt>
                  <c:pt idx="8">
                    <c:v>الاعتداء على خط صرف صحي فرعي (أصغر من 500 ملم)</c:v>
                  </c:pt>
                  <c:pt idx="9">
                    <c:v>إلقاء أو وضع أو التسبب في وصول مواد ضارة، صلبة أو سائلة أو…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860</c:v>
                </c:pt>
                <c:pt idx="1">
                  <c:v>710</c:v>
                </c:pt>
                <c:pt idx="2">
                  <c:v>687</c:v>
                </c:pt>
                <c:pt idx="3">
                  <c:v>546</c:v>
                </c:pt>
                <c:pt idx="4">
                  <c:v>239</c:v>
                </c:pt>
                <c:pt idx="5">
                  <c:v>155</c:v>
                </c:pt>
                <c:pt idx="6">
                  <c:v>115</c:v>
                </c:pt>
                <c:pt idx="7">
                  <c:v>108</c:v>
                </c:pt>
                <c:pt idx="8">
                  <c:v>70</c:v>
                </c:pt>
                <c:pt idx="9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D4A53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548640"/>
            <a:ext cx="29260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15400" y="621792"/>
            <a:ext cx="265176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أداء المخالفات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788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الأداء التنفيذية — المركز الرئيسي · إدارة المخالفات والجودة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4A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جميع القطاعات · 05/02/2025 – 11/10/2026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5029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3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18/10/2026 · عايض القحطاني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4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D4A537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0" y="10972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التنفيذي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0" y="512064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الأداء التنفيذية — المركز الرئيسي · جميع القطاعات · 05/02/2025 – 11/10/2026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82880"/>
            <a:ext cx="2148840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73952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التقرير الشامل — منصة مكين للتقارير · 18/10/2026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336639" y="1143000"/>
            <a:ext cx="1532273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336639" y="1143000"/>
            <a:ext cx="1532273" cy="73152"/>
          </a:xfrm>
          <a:prstGeom prst="rect">
            <a:avLst/>
          </a:prstGeom>
          <a:solidFill>
            <a:srgbClr val="1F5BB0"/>
          </a:solidFill>
          <a:ln/>
        </p:spPr>
      </p:sp>
      <p:sp>
        <p:nvSpPr>
          <p:cNvPr id="12" name="Text 9"/>
          <p:cNvSpPr/>
          <p:nvPr/>
        </p:nvSpPr>
        <p:spPr>
          <a:xfrm>
            <a:off x="10428079" y="1271016"/>
            <a:ext cx="134939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المرصودة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428079" y="1581912"/>
            <a:ext cx="134939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7,993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667206" y="1143000"/>
            <a:ext cx="1532273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67206" y="1143000"/>
            <a:ext cx="1532273" cy="73152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6" name="Text 13"/>
          <p:cNvSpPr/>
          <p:nvPr/>
        </p:nvSpPr>
        <p:spPr>
          <a:xfrm>
            <a:off x="8758646" y="1271016"/>
            <a:ext cx="134939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المرسلة للهيئة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58646" y="1581912"/>
            <a:ext cx="134939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3,839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758646" y="1965960"/>
            <a:ext cx="134939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من المرصود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97773" y="1143000"/>
            <a:ext cx="1532273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997773" y="1143000"/>
            <a:ext cx="1532273" cy="73152"/>
          </a:xfrm>
          <a:prstGeom prst="rect">
            <a:avLst/>
          </a:prstGeom>
          <a:solidFill>
            <a:srgbClr val="1C7A4B"/>
          </a:solidFill>
          <a:ln/>
        </p:spPr>
      </p:sp>
      <p:sp>
        <p:nvSpPr>
          <p:cNvPr id="21" name="Text 18"/>
          <p:cNvSpPr/>
          <p:nvPr/>
        </p:nvSpPr>
        <p:spPr>
          <a:xfrm>
            <a:off x="7089213" y="1271016"/>
            <a:ext cx="134939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القرارات الصادرة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89213" y="1581912"/>
            <a:ext cx="134939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089213" y="1965960"/>
            <a:ext cx="134939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من المرسل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28339" y="1143000"/>
            <a:ext cx="1532273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28339" y="1143000"/>
            <a:ext cx="1532273" cy="73152"/>
          </a:xfrm>
          <a:prstGeom prst="rect">
            <a:avLst/>
          </a:prstGeom>
          <a:solidFill>
            <a:srgbClr val="B7861A"/>
          </a:solidFill>
          <a:ln/>
        </p:spPr>
      </p:sp>
      <p:sp>
        <p:nvSpPr>
          <p:cNvPr id="26" name="Text 23"/>
          <p:cNvSpPr/>
          <p:nvPr/>
        </p:nvSpPr>
        <p:spPr>
          <a:xfrm>
            <a:off x="5419779" y="1271016"/>
            <a:ext cx="134939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 التدقيق لدى الهيئة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19779" y="1581912"/>
            <a:ext cx="134939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1,962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5419779" y="1965960"/>
            <a:ext cx="134939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B78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 من المرسل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8906" y="1143000"/>
            <a:ext cx="1532273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658906" y="1143000"/>
            <a:ext cx="1532273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3750346" y="1271016"/>
            <a:ext cx="134939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المسترجعة حالياً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750346" y="1581912"/>
            <a:ext cx="134939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414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3750346" y="1965960"/>
            <a:ext cx="134939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من المرسل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989473" y="1143000"/>
            <a:ext cx="1532273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1989473" y="1143000"/>
            <a:ext cx="1532273" cy="73152"/>
          </a:xfrm>
          <a:prstGeom prst="rect">
            <a:avLst/>
          </a:prstGeom>
          <a:solidFill>
            <a:srgbClr val="1F5BB0"/>
          </a:solidFill>
          <a:ln/>
        </p:spPr>
      </p:sp>
      <p:sp>
        <p:nvSpPr>
          <p:cNvPr id="36" name="Text 33"/>
          <p:cNvSpPr/>
          <p:nvPr/>
        </p:nvSpPr>
        <p:spPr>
          <a:xfrm>
            <a:off x="2080913" y="1271016"/>
            <a:ext cx="134939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المراجعة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2080913" y="1581912"/>
            <a:ext cx="134939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475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2080913" y="1965960"/>
            <a:ext cx="134939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F5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 من المرصود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20040" y="1143000"/>
            <a:ext cx="1532273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20040" y="1143000"/>
            <a:ext cx="1532273" cy="73152"/>
          </a:xfrm>
          <a:prstGeom prst="rect">
            <a:avLst/>
          </a:prstGeom>
          <a:solidFill>
            <a:srgbClr val="C2558A"/>
          </a:solidFill>
          <a:ln/>
        </p:spPr>
      </p:sp>
      <p:sp>
        <p:nvSpPr>
          <p:cNvPr id="41" name="Text 38"/>
          <p:cNvSpPr/>
          <p:nvPr/>
        </p:nvSpPr>
        <p:spPr>
          <a:xfrm>
            <a:off x="411480" y="1271016"/>
            <a:ext cx="134939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مكتملة الأركان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11480" y="1581912"/>
            <a:ext cx="134939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3,666</a:t>
            </a:r>
            <a:endParaRPr lang="en-US" sz="2400" dirty="0"/>
          </a:p>
        </p:txBody>
      </p:sp>
      <p:sp>
        <p:nvSpPr>
          <p:cNvPr id="43" name="Text 40"/>
          <p:cNvSpPr/>
          <p:nvPr/>
        </p:nvSpPr>
        <p:spPr>
          <a:xfrm>
            <a:off x="411480" y="1965960"/>
            <a:ext cx="134939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C25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 من المرصود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309360" y="2514600"/>
            <a:ext cx="5559552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400800" y="257860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4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المخالفات حسب الحالة</a:t>
            </a:r>
            <a:endParaRPr lang="en-US" sz="140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6400800" y="2971800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" name="Shape 43"/>
          <p:cNvSpPr/>
          <p:nvPr/>
        </p:nvSpPr>
        <p:spPr>
          <a:xfrm>
            <a:off x="320040" y="2514600"/>
            <a:ext cx="58521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411480" y="257860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4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المخالفة — من الرصد إلى القرار</a:t>
            </a:r>
            <a:endParaRPr lang="en-US" sz="1400" dirty="0"/>
          </a:p>
        </p:txBody>
      </p:sp>
      <p:sp>
        <p:nvSpPr>
          <p:cNvPr id="49" name="Text 45"/>
          <p:cNvSpPr/>
          <p:nvPr/>
        </p:nvSpPr>
        <p:spPr>
          <a:xfrm>
            <a:off x="548640" y="3154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المرصودة</a:t>
            </a:r>
            <a:endParaRPr lang="en-US" sz="1300" dirty="0"/>
          </a:p>
        </p:txBody>
      </p:sp>
      <p:sp>
        <p:nvSpPr>
          <p:cNvPr id="50" name="Text 46"/>
          <p:cNvSpPr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7,993</a:t>
            </a:r>
            <a:endParaRPr lang="en-US" sz="1500" dirty="0"/>
          </a:p>
        </p:txBody>
      </p:sp>
      <p:sp>
        <p:nvSpPr>
          <p:cNvPr id="51" name="Shape 47"/>
          <p:cNvSpPr/>
          <p:nvPr/>
        </p:nvSpPr>
        <p:spPr>
          <a:xfrm>
            <a:off x="548640" y="3520440"/>
            <a:ext cx="5394960" cy="292608"/>
          </a:xfrm>
          <a:prstGeom prst="roundRect">
            <a:avLst>
              <a:gd name="adj" fmla="val 18750"/>
            </a:avLst>
          </a:prstGeom>
          <a:solidFill>
            <a:srgbClr val="1F5BB0"/>
          </a:solidFill>
          <a:ln/>
        </p:spPr>
      </p:sp>
      <p:sp>
        <p:nvSpPr>
          <p:cNvPr id="52" name="Text 48"/>
          <p:cNvSpPr/>
          <p:nvPr/>
        </p:nvSpPr>
        <p:spPr>
          <a:xfrm>
            <a:off x="548640" y="383133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نسبة الإرسال: 48%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548640" y="4160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المرسلة للهيئة</a:t>
            </a:r>
            <a:endParaRPr lang="en-US" sz="1300" dirty="0"/>
          </a:p>
        </p:txBody>
      </p:sp>
      <p:sp>
        <p:nvSpPr>
          <p:cNvPr id="54" name="Text 50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3,839</a:t>
            </a:r>
            <a:endParaRPr lang="en-US" sz="1500" dirty="0"/>
          </a:p>
        </p:txBody>
      </p:sp>
      <p:sp>
        <p:nvSpPr>
          <p:cNvPr id="55" name="Shape 51"/>
          <p:cNvSpPr/>
          <p:nvPr/>
        </p:nvSpPr>
        <p:spPr>
          <a:xfrm>
            <a:off x="3352426" y="4526280"/>
            <a:ext cx="2591174" cy="292608"/>
          </a:xfrm>
          <a:prstGeom prst="roundRect">
            <a:avLst>
              <a:gd name="adj" fmla="val 18750"/>
            </a:avLst>
          </a:prstGeom>
          <a:solidFill>
            <a:srgbClr val="EB6834"/>
          </a:solidFill>
          <a:ln/>
        </p:spPr>
      </p:sp>
      <p:sp>
        <p:nvSpPr>
          <p:cNvPr id="56" name="Text 52"/>
          <p:cNvSpPr/>
          <p:nvPr/>
        </p:nvSpPr>
        <p:spPr>
          <a:xfrm>
            <a:off x="548640" y="48371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نسبة القرارات من المرسل: 38%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548640" y="5166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القرارات الصادرة</a:t>
            </a:r>
            <a:endParaRPr lang="en-US" sz="1300" dirty="0"/>
          </a:p>
        </p:txBody>
      </p:sp>
      <p:sp>
        <p:nvSpPr>
          <p:cNvPr id="58" name="Text 54"/>
          <p:cNvSpPr/>
          <p:nvPr/>
        </p:nvSpPr>
        <p:spPr>
          <a:xfrm>
            <a:off x="54864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10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1,463</a:t>
            </a:r>
            <a:endParaRPr lang="en-US" sz="1500" dirty="0"/>
          </a:p>
        </p:txBody>
      </p:sp>
      <p:sp>
        <p:nvSpPr>
          <p:cNvPr id="59" name="Shape 55"/>
          <p:cNvSpPr/>
          <p:nvPr/>
        </p:nvSpPr>
        <p:spPr>
          <a:xfrm>
            <a:off x="4956133" y="5532120"/>
            <a:ext cx="987467" cy="292608"/>
          </a:xfrm>
          <a:prstGeom prst="roundRect">
            <a:avLst>
              <a:gd name="adj" fmla="val 18750"/>
            </a:avLst>
          </a:prstGeom>
          <a:solidFill>
            <a:srgbClr val="1C7A4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4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D4A537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0" y="10972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القطاعات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0" y="512064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الأداء التنفيذية — المركز الرئيسي · جميع القطاعات · 05/02/2025 – 11/10/2026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82880"/>
            <a:ext cx="2148840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73952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التقرير الشامل — منصة مكين للتقارير · 18/10/2026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1097280"/>
            <a:ext cx="11548872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graphicFrame>
        <p:nvGraphicFramePr>
          <p:cNvPr id="11" name="Chart 0" descr=""/>
          <p:cNvGraphicFramePr/>
          <p:nvPr/>
        </p:nvGraphicFramePr>
        <p:xfrm>
          <a:off x="411480" y="1143000"/>
          <a:ext cx="113385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86200"/>
          <a:ext cx="115488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554480"/>
                <a:gridCol w="1280160"/>
                <a:gridCol w="1463040"/>
                <a:gridCol w="1554480"/>
                <a:gridCol w="1371600"/>
                <a:gridCol w="130759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القطاع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المرصود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المرسل للهيئة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قيد التدقيق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المسترجع حالياً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القرارات الصادرة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بانتظار المراجعة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غير مكتملة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الأوسط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 (28%)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(15%)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 (22%)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الغربي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 (23%)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(18%)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(19%)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الشرقي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1,390 (68%)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 (9%)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 (51%)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الشمالي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 (49%)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(9%)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 (36%)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الشمالي الغربي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 (61%)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 (9%)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 (39%)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الجنوبي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 (55%)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 (13%)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 (26%)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الإجمالي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3,839 (48%)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 (11%)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1,463 (38%)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4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D4A537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0" y="10972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الاتجاه الشهري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0" y="512064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الأداء التنفيذية — المركز الرئيسي · جميع القطاعات · 05/02/2025 – 11/10/2026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82880"/>
            <a:ext cx="2148840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73952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التقرير الشامل — منصة مكين للتقارير · 18/10/2026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1097280"/>
            <a:ext cx="11548872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graphicFrame>
        <p:nvGraphicFramePr>
          <p:cNvPr id="11" name="Chart 0" descr=""/>
          <p:cNvGraphicFramePr/>
          <p:nvPr/>
        </p:nvGraphicFramePr>
        <p:xfrm>
          <a:off x="411480" y="1188720"/>
          <a:ext cx="113385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892040"/>
          <a:ext cx="11548872" cy="914400"/>
        </p:xfrm>
        <a:graphic>
          <a:graphicData uri="http://schemas.openxmlformats.org/drawingml/2006/table">
            <a:tbl>
              <a:tblPr/>
              <a:tblGrid>
                <a:gridCol w="2887218"/>
                <a:gridCol w="2887218"/>
                <a:gridCol w="2887218"/>
                <a:gridCol w="288721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المؤشر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التغير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المرصود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69%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المرسل للهيئة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61%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القرارات الصادرة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91%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المسترجع حالياً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بانتظار المراجعة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1865%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غير مكتملة الأركان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4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D4A537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0" y="10972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المخالفات المرسلة للهيئة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0" y="512064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الأداء التنفيذية — المركز الرئيسي · جميع القطاعات · 05/02/2025 – 11/10/2026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82880"/>
            <a:ext cx="2148840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73952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التقرير الشامل — منصة مكين للتقارير · 18/10/2026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1097280"/>
            <a:ext cx="11548872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6F3"/>
            </a:solidFill>
            <a:prstDash val="solid"/>
          </a:ln>
          <a:effectLst>
            <a:outerShdw sx="100000" sy="100000" kx="0" ky="0" algn="bl" rotWithShape="0" blurRad="76200" dist="25400" dir="5400000">
              <a:srgbClr val="10284A">
                <a:alpha val="12000"/>
              </a:srgbClr>
            </a:outerShdw>
          </a:effectLst>
        </p:spPr>
      </p:sp>
      <p:graphicFrame>
        <p:nvGraphicFramePr>
          <p:cNvPr id="11" name="Chart 0" descr=""/>
          <p:cNvGraphicFramePr/>
          <p:nvPr/>
        </p:nvGraphicFramePr>
        <p:xfrm>
          <a:off x="411480" y="1188720"/>
          <a:ext cx="1133856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4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D4A537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0" y="10972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مدراء الرقابة — الأعلى تدقيقاً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0" y="512064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الأداء التنفيذية — المركز الرئيسي · جميع القطاعات · 05/02/2025 – 11/10/2026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82880"/>
            <a:ext cx="2148840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73952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التقرير الشامل — منصة مكين للتقارير · 18/10/2026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8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488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1371600"/>
                <a:gridCol w="1005840"/>
                <a:gridCol w="1005840"/>
                <a:gridCol w="1280160"/>
                <a:gridCol w="1005840"/>
                <a:gridCol w="1005840"/>
                <a:gridCol w="130759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مدير الرقابة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القطاع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المدقق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غير معتمد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المرسل للهيئة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المسترجع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القرارات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نسبة القرارات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7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بدر بن عصويد بن مران العنزي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الشرقي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سعود فرحان هلال العنزي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الشمالي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نافع رثعان حضرم الرشيدي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الشمالي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البتول حسن صالح الشهري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الشرقي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ابراهيم مصطفى ابراهيم أزمرلي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الشمالي الغربي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معتز بن عويد بن عبدالله الحربي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الشمالي الغربي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شهيره ماجد قطيم المطيري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الشمالي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سعيد بن عبدالوهاب بن محمد البوحويح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الشرقي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حنان خالد صالح باحديدي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الشرقي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منير بن عبدالله بن علي المحيشي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الشرقي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ريان عبدالله شعيب الحربي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الشمالي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حسين بن علي بن حسين بن داغر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الشرقي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عبدالله طامى ساعد العتيبي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الغربي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حسن سفر سعيد الشهراني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الجنوبي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اميره جمال سعود الدوسري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الشرقي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أداء المخالفات</dc:title>
  <dc:subject>PptxGenJS Presentation</dc:subject>
  <dc:creator>عايض القحطاني</dc:creator>
  <cp:lastModifiedBy>عايض القحطاني</cp:lastModifiedBy>
  <cp:revision>1</cp:revision>
  <dcterms:created xsi:type="dcterms:W3CDTF">2026-10-18T12:23:32Z</dcterms:created>
  <dcterms:modified xsi:type="dcterms:W3CDTF">2026-10-18T12:23:32Z</dcterms:modified>
</cp:coreProperties>
</file>